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Bem-vindos à apresentação Segurança Digital: orientações e dicas de como se proteger. Esta apresentação reúne orientações práticas de proteção no ambiente digital, aplicáveis à vida pessoal e ao ambiente de trabalho.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entre estes seis crimes dependem de enganar pessoas, não de invadir sistemas: é a engenharia social. Nenhuma instituição bancária solicita transferências ou códigos por telefone.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atitudes em camadas: senhas fortes e únicas; autenticação em duas etapas; desconfiar da urgência; atualizar sempre; backup três-dois-um; e reação rápida a incidentes. As camadas externas previnem; o núcleo é o que resta quando tudo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ambiente corporativo a postura se resume em: na dúvida, não clique, não repasse e não instale — consulte a equipe de segurança da informação. Credenciais são pessoais; informação não pública não circula por canais pessoais; estação bloqueada; VPN no trabalho remoto; o setor de energia é alvo de ataques direcionados; e todo incidente deve ser reportado imediatamente.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Encerramos com quatro mensagens: segurança é hábito, não é produto; desconfiar, verificar e atualizar bloqueia a grande maioria dos ataques; quem desacelera não cai; e reportar com rapidez protege a todos. Para aprofundamento, as fontes oficiais indicadas na tela.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z2ozsB3_Iww" TargetMode="External"/><Relationship Id="rId2" Type="http://schemas.openxmlformats.org/officeDocument/2006/relationships/hyperlink" Target="https://www.youtube.com/watch?v=z2ozsB3_Iww" TargetMode="External"/><Relationship Id="rId3" Type="http://schemas.openxmlformats.org/officeDocument/2006/relationships/hyperlink" Target="https://www.youtube.com/watch?v=z2ozsB3_Iww" TargetMode="External"/><Relationship Id="rId4" Type="http://schemas.openxmlformats.org/officeDocument/2006/relationships/hyperlink" Target="https://cartilha.cert.br" TargetMode="External"/><Relationship Id="rId5" Type="http://schemas.openxmlformats.org/officeDocument/2006/relationships/hyperlink" Target="https://antifraudes.febraban.org.br" TargetMode="External"/><Relationship Id="rId6" Type="http://schemas.openxmlformats.org/officeDocument/2006/relationships/hyperlink" Target="https://cidadaonarede.nic.br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25146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pic>
        <p:nvPicPr>
          <p:cNvPr id="3" name="Image 0" descr="/home/user/Projeto-Integrador_Engenharia-da-Computacao/HTML/img/logo-petrobra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534924"/>
            <a:ext cx="2112264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874520" y="208483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DA INFORMAÇÃO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1828800" y="2331720"/>
            <a:ext cx="585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</a:t>
            </a:r>
            <a:pPr indent="0" marL="0">
              <a:buNone/>
            </a:pPr>
            <a:r>
              <a:rPr lang="en-US" sz="5400" b="1" dirty="0">
                <a:solidFill>
                  <a:srgbClr val="FDC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874520" y="34015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Orientações e dicas de como se proteger no ambiente conectado</a:t>
            </a:r>
            <a:endParaRPr lang="en-US" sz="1700" dirty="0"/>
          </a:p>
        </p:txBody>
      </p:sp>
      <p:pic>
        <p:nvPicPr>
          <p:cNvPr id="7" name="Image 1" descr="/tmp/claude-0/-home-user-Projeto-Integrador-Engenharia-da-Computacao/591c365f-674c-5b8c-9ff7-f931bbf7ce99/scratchpad/pptx/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325880"/>
            <a:ext cx="5074920" cy="42611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CENÁRIO DE RISCO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cibernéticos </a:t>
            </a:r>
            <a:pPr indent="0" marL="0">
              <a:buNone/>
            </a:pPr>
            <a:r>
              <a:rPr lang="en-US" sz="3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praticados</a:t>
            </a:r>
            <a:pPr indent="0" marL="0">
              <a:buNone/>
            </a:pPr>
            <a:r>
              <a:rPr lang="en-US" sz="300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Brasil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3538728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664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F2EB"/>
          </a:solidFill>
          <a:ln/>
        </p:spPr>
      </p:sp>
      <p:pic>
        <p:nvPicPr>
          <p:cNvPr id="6" name="Image 0" descr="/tmp/claude-0/-home-user-Projeto-Integrador-Engenharia-da-Computacao/591c365f-674c-5b8c-9ff7-f931bbf7ce99/scratchpad/pptx/i-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6404" y="1769364"/>
            <a:ext cx="246888" cy="24688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1248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e falsas centrais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41248" y="248716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Envio de links falsos ou ligações se passando por bancos para roubar senhas e dados pessoais.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98264" y="1481328"/>
            <a:ext cx="3538728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9432" y="1664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F2EB"/>
          </a:solidFill>
          <a:ln/>
        </p:spPr>
      </p:sp>
      <p:pic>
        <p:nvPicPr>
          <p:cNvPr id="11" name="Image 1" descr="/tmp/claude-0/-home-user-Projeto-Integrador-Engenharia-da-Computacao/591c365f-674c-5b8c-9ff7-f931bbf7ce99/scratchpad/pptx/i-doll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1769364"/>
            <a:ext cx="246888" cy="2468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Golpe do Pix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9432" y="248716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induzidas por erro, perfis falsos ou invasão de contas de terceiros.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56448" y="1481328"/>
            <a:ext cx="3538728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6642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F2EB"/>
          </a:solidFill>
          <a:ln/>
        </p:spPr>
      </p:sp>
      <p:pic>
        <p:nvPicPr>
          <p:cNvPr id="16" name="Image 2" descr="/tmp/claude-0/-home-user-Projeto-Integrador-Engenharia-da-Computacao/591c365f-674c-5b8c-9ff7-f931bbf7ce99/scratchpad/pptx/i-c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2772" y="1769364"/>
            <a:ext cx="246888" cy="2468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19456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Clonagem de cartão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7616" y="248716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Roubo de dados de cartões de crédito em compras online fraudulentas ou maquininhas adulteradas.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75888"/>
            <a:ext cx="3538728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41248" y="3858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F2EB"/>
          </a:solidFill>
          <a:ln/>
        </p:spPr>
      </p:sp>
      <p:pic>
        <p:nvPicPr>
          <p:cNvPr id="21" name="Image 3" descr="/tmp/claude-0/-home-user-Projeto-Integrador-Engenharia-da-Computacao/591c365f-674c-5b8c-9ff7-f931bbf7ce99/scratchpad/pptx/i-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" y="3963924"/>
            <a:ext cx="246888" cy="2468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41248" y="43891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Invasão de dispositivos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841248" y="46817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não autorizado a celulares e computadores para furto de dados ou envio de mensagens em nome da vítima.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98264" y="3675888"/>
            <a:ext cx="3538728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99432" y="3858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F2EB"/>
          </a:solidFill>
          <a:ln/>
        </p:spPr>
      </p:sp>
      <p:pic>
        <p:nvPicPr>
          <p:cNvPr id="26" name="Image 4" descr="/tmp/claude-0/-home-user-Projeto-Integrador-Engenharia-da-Computacao/591c365f-674c-5b8c-9ff7-f931bbf7ce99/scratchpad/pptx/i-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4588" y="3963924"/>
            <a:ext cx="246888" cy="2468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3891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Crimes de ódio e assédio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99432" y="46817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Discurso discriminatório, exposição de imagens íntimas e crimes contra a honra nas redes sociais.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56448" y="3675888"/>
            <a:ext cx="3538728" cy="1956816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2EAE5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57616" y="3858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5F2EB"/>
          </a:solidFill>
          <a:ln/>
        </p:spPr>
      </p:sp>
      <p:pic>
        <p:nvPicPr>
          <p:cNvPr id="31" name="Image 5" descr="/tmp/claude-0/-home-user-Projeto-Integrador-Engenharia-da-Computacao/591c365f-674c-5b8c-9ff7-f931bbf7ce99/scratchpad/pptx/i-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2772" y="3963924"/>
            <a:ext cx="246888" cy="24688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57616" y="4389120"/>
            <a:ext cx="31363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Engenharia social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57616" y="4681728"/>
            <a:ext cx="3136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Manipulação psicológica que explora pressa, medo e confiança para induzir a vítima a entregar dados ou dinheiro.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640080" y="589788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BF6E3"/>
          </a:solidFill>
          <a:ln/>
        </p:spPr>
      </p:sp>
      <p:sp>
        <p:nvSpPr>
          <p:cNvPr id="35" name="Text 27"/>
          <p:cNvSpPr/>
          <p:nvPr/>
        </p:nvSpPr>
        <p:spPr>
          <a:xfrm>
            <a:off x="868680" y="5897880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uma estatística única e oficial sobre “crimes cibernéticos” no Brasil — o ranking muda conforme a fonte, porque cada uma mede uma coisa diferente (registros policiais, denúncias de conteúdo ou pesquisa de vitimização).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EM PROFUNDIDADE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Defesa em </a:t>
            </a:r>
            <a:pPr indent="0" marL="0">
              <a:buNone/>
            </a:pPr>
            <a:r>
              <a:rPr lang="en-US" sz="3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</a:t>
            </a:r>
            <a:pPr indent="0" marL="0">
              <a:buNone/>
            </a:pPr>
            <a:r>
              <a:rPr lang="en-US" sz="300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6 atitudes essenciais</a:t>
            </a:r>
            <a:endParaRPr lang="en-US" sz="3000" dirty="0"/>
          </a:p>
        </p:txBody>
      </p:sp>
      <p:pic>
        <p:nvPicPr>
          <p:cNvPr id="4" name="Image 0" descr="/tmp/claude-0/-home-user-Projeto-Integrador-Engenharia-da-Computacao/591c365f-674c-5b8c-9ff7-f931bbf7ce99/scratchpad/pptx/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10972800" cy="40965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53328" y="15240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510528" y="15148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Senhas fortes e únicas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Frases longas e uma senha por serviço, com gerenciador (Bitwarden, 1Password, KeePass). Confira vazamentos do seu e-mail.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53328" y="21717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6510528" y="21625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Autenticação em duas etapas (2FA)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autenticador ou passkey no e-mail, banco e redes. SMS só em último caso — nunca compartilhe códigos.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053328" y="2790825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510528" y="2781681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Desconfie da urgência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clique em links inesperados: confira remetente e domínio e confirme por outro canal. Pare, pense, verifique.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053328" y="340995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6510528" y="340080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Atualize sempre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Sistema, apps e roteador com atualização automática; abandone sistemas sem suporte do fabricante.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053328" y="4029075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6510528" y="4019931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3-2-1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cópias, 2 mídias, 1 fora do local (nuvem) — a defesa real contra ransomware. Teste a restauração.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53328" y="4648200"/>
            <a:ext cx="3840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6510528" y="4639056"/>
            <a:ext cx="5074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Reaja rápido a incidentes
</a:t>
            </a:r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Troque senhas, acione o banco, peça a devolução do Pix (MED), registre B.O. Guarde provas e monitore o CPF.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5897880"/>
            <a:ext cx="10908792" cy="658368"/>
          </a:xfrm>
          <a:prstGeom prst="roundRect">
            <a:avLst>
              <a:gd name="adj" fmla="val 11111"/>
            </a:avLst>
          </a:prstGeom>
          <a:solidFill>
            <a:srgbClr val="FBF6E3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5897880"/>
            <a:ext cx="10469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— conexões: </a:t>
            </a:r>
            <a:pPr indent="0" marL="0">
              <a:buNone/>
            </a:pPr>
            <a:r>
              <a:rPr lang="en-US" sz="1050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Wi-Fi público, evite banco e senhas (prefira 4G/5G); em casa, troque a senha padrão do roteador. O cadeado HTTPS indica conexão criptografada, não que o site é honesto.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AMBIENTE CORPORATIVO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 digital na </a:t>
            </a:r>
            <a:pPr indent="0" marL="0">
              <a:buNone/>
            </a:pPr>
            <a:r>
              <a:rPr lang="en-US" sz="3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Petrobras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 flipH="1">
            <a:off x="2545080" y="3762375"/>
            <a:ext cx="3581400" cy="0"/>
          </a:xfrm>
          <a:prstGeom prst="line">
            <a:avLst/>
          </a:prstGeom>
          <a:noFill/>
          <a:ln w="15240">
            <a:solidFill>
              <a:srgbClr val="8FBFA6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3992880" y="2390775"/>
            <a:ext cx="2133600" cy="1371600"/>
          </a:xfrm>
          <a:prstGeom prst="line">
            <a:avLst/>
          </a:prstGeom>
          <a:noFill/>
          <a:ln w="15240">
            <a:solidFill>
              <a:srgbClr val="8FBFA6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 flipH="1">
            <a:off x="6126480" y="2390775"/>
            <a:ext cx="2133600" cy="1371600"/>
          </a:xfrm>
          <a:prstGeom prst="line">
            <a:avLst/>
          </a:prstGeom>
          <a:noFill/>
          <a:ln w="15240">
            <a:solidFill>
              <a:srgbClr val="8FBFA6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6126480" y="3762375"/>
            <a:ext cx="3581400" cy="0"/>
          </a:xfrm>
          <a:prstGeom prst="line">
            <a:avLst/>
          </a:prstGeom>
          <a:noFill/>
          <a:ln w="15240">
            <a:solidFill>
              <a:srgbClr val="8FBFA6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 flipH="1">
            <a:off x="3992880" y="3762375"/>
            <a:ext cx="2133600" cy="1400175"/>
          </a:xfrm>
          <a:prstGeom prst="line">
            <a:avLst/>
          </a:prstGeom>
          <a:noFill/>
          <a:ln w="15240">
            <a:solidFill>
              <a:srgbClr val="8FBFA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6126480" y="3762375"/>
            <a:ext cx="2133600" cy="1400175"/>
          </a:xfrm>
          <a:prstGeom prst="line">
            <a:avLst/>
          </a:prstGeom>
          <a:noFill/>
          <a:ln w="15240">
            <a:solidFill>
              <a:srgbClr val="8FBFA6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910328" y="2546223"/>
            <a:ext cx="2432304" cy="2432304"/>
          </a:xfrm>
          <a:prstGeom prst="ellipse">
            <a:avLst/>
          </a:prstGeom>
          <a:ln w="9525">
            <a:solidFill>
              <a:srgbClr val="008542"/>
            </a:solidFill>
            <a:prstDash val="sysDot"/>
          </a:ln>
        </p:spPr>
      </p:sp>
      <p:sp>
        <p:nvSpPr>
          <p:cNvPr id="11" name="Shape 9"/>
          <p:cNvSpPr/>
          <p:nvPr/>
        </p:nvSpPr>
        <p:spPr>
          <a:xfrm>
            <a:off x="4727448" y="2363343"/>
            <a:ext cx="2798064" cy="2798064"/>
          </a:xfrm>
          <a:prstGeom prst="ellipse">
            <a:avLst/>
          </a:prstGeom>
          <a:ln w="9525">
            <a:solidFill>
              <a:srgbClr val="FDC82F"/>
            </a:solidFill>
            <a:prstDash val="sysDot"/>
          </a:ln>
        </p:spPr>
      </p:sp>
      <p:sp>
        <p:nvSpPr>
          <p:cNvPr id="12" name="Shape 10"/>
          <p:cNvSpPr/>
          <p:nvPr/>
        </p:nvSpPr>
        <p:spPr>
          <a:xfrm>
            <a:off x="5120640" y="2756535"/>
            <a:ext cx="2011680" cy="2011680"/>
          </a:xfrm>
          <a:prstGeom prst="ellipse">
            <a:avLst/>
          </a:prstGeom>
          <a:solidFill>
            <a:srgbClr val="008542"/>
          </a:solidFill>
          <a:ln/>
          <a:effectLst>
            <a:outerShdw sx="100000" sy="100000" kx="0" ky="0" algn="bl" rotWithShape="0" blurRad="127000" dist="50800" dir="5400000">
              <a:srgbClr val="003B1F">
                <a:alpha val="35000"/>
              </a:srgbClr>
            </a:outerShdw>
          </a:effectLst>
        </p:spPr>
      </p:sp>
      <p:pic>
        <p:nvPicPr>
          <p:cNvPr id="13" name="Image 0" descr="/tmp/claude-0/-home-user-Projeto-Integrador-Engenharia-da-Computacao/591c365f-674c-5b8c-9ff7-f931bbf7ce99/scratchpad/pptx/i-lock-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98464" y="2975991"/>
            <a:ext cx="256032" cy="25603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257800" y="3286887"/>
            <a:ext cx="1737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Proteja a companhia
</a:t>
            </a:r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E8F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dúvida: não clique, não repasse, não instale — pergunte ao time de segurança.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653540" y="2870835"/>
            <a:ext cx="1783080" cy="17830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8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3000"/>
              </a:srgbClr>
            </a:outerShdw>
          </a:effectLst>
        </p:spPr>
      </p:sp>
      <p:pic>
        <p:nvPicPr>
          <p:cNvPr id="16" name="Image 1" descr="/tmp/claude-0/-home-user-Projeto-Integrador-Engenharia-da-Computacao/591c365f-674c-5b8c-9ff7-f931bbf7ce99/scratchpad/pptx/i-idc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0780" y="3049143"/>
            <a:ext cx="228600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86128" y="3332607"/>
            <a:ext cx="1517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pessoais
</a:t>
            </a:r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e senha são individuais: nunca compartilhe nem reutilize.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101340" y="1499235"/>
            <a:ext cx="1783080" cy="17830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8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3000"/>
              </a:srgbClr>
            </a:outerShdw>
          </a:effectLst>
        </p:spPr>
      </p:sp>
      <p:pic>
        <p:nvPicPr>
          <p:cNvPr id="19" name="Image 2" descr="/tmp/claude-0/-home-user-Projeto-Integrador-Engenharia-da-Computacao/591c365f-674c-5b8c-9ff7-f931bbf7ce99/scratchpad/pptx/i-fold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8580" y="1677543"/>
            <a:ext cx="228600" cy="2286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233928" y="1961007"/>
            <a:ext cx="1517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da informação
</a:t>
            </a:r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não pública não sai por canais pessoais.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7368540" y="1499235"/>
            <a:ext cx="1783080" cy="17830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8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3000"/>
              </a:srgbClr>
            </a:outerShdw>
          </a:effectLst>
        </p:spPr>
      </p:sp>
      <p:pic>
        <p:nvPicPr>
          <p:cNvPr id="22" name="Image 3" descr="/tmp/claude-0/-home-user-Projeto-Integrador-Engenharia-da-Computacao/591c365f-674c-5b8c-9ff7-f931bbf7ce99/scratchpad/pptx/i-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5780" y="1677543"/>
            <a:ext cx="228600" cy="2286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01128" y="1961007"/>
            <a:ext cx="1517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Estação bloqueada
</a:t>
            </a:r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Bloqueie a tela ao se ausentar (Win + L) e pratique a mesa limpa.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8816340" y="2870835"/>
            <a:ext cx="1783080" cy="17830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8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3000"/>
              </a:srgbClr>
            </a:outerShdw>
          </a:effectLst>
        </p:spPr>
      </p:sp>
      <p:pic>
        <p:nvPicPr>
          <p:cNvPr id="25" name="Image 4" descr="/tmp/claude-0/-home-user-Projeto-Integrador-Engenharia-da-Computacao/591c365f-674c-5b8c-9ff7-f931bbf7ce99/scratchpad/pptx/i-glob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3580" y="3049143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948928" y="3332607"/>
            <a:ext cx="1517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e equipamentos
</a:t>
            </a:r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Trabalho remoto só com equipamento corporativo e VPN.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3101340" y="4271010"/>
            <a:ext cx="1783080" cy="17830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008542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3000"/>
              </a:srgbClr>
            </a:outerShdw>
          </a:effectLst>
        </p:spPr>
      </p:sp>
      <p:pic>
        <p:nvPicPr>
          <p:cNvPr id="28" name="Image 5" descr="/tmp/claude-0/-home-user-Projeto-Integrador-Engenharia-da-Computacao/591c365f-674c-5b8c-9ff7-f931bbf7ce99/scratchpad/pptx/i-z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8580" y="4449318"/>
            <a:ext cx="228600" cy="22860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3233928" y="4732782"/>
            <a:ext cx="1517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de energia é alvo
</a:t>
            </a:r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Desconfie de contatos pedindo dados técnicos ou comerciais.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7368540" y="4271010"/>
            <a:ext cx="1783080" cy="17830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FDC82F"/>
            </a:solidFill>
            <a:prstDash val="solid"/>
          </a:ln>
          <a:effectLst>
            <a:outerShdw sx="100000" sy="100000" kx="0" ky="0" algn="bl" rotWithShape="0" blurRad="88900" dist="25400" dir="5400000">
              <a:srgbClr val="003B1F">
                <a:alpha val="13000"/>
              </a:srgbClr>
            </a:outerShdw>
          </a:effectLst>
        </p:spPr>
      </p:sp>
      <p:pic>
        <p:nvPicPr>
          <p:cNvPr id="31" name="Image 6" descr="/tmp/claude-0/-home-user-Projeto-Integrador-Engenharia-da-Computacao/591c365f-674c-5b8c-9ff7-f931bbf7ce99/scratchpad/pptx/i-megaphone-y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45780" y="4449318"/>
            <a:ext cx="228600" cy="22860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501128" y="4732782"/>
            <a:ext cx="15179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05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imediatamente
</a:t>
            </a:r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Incidente ou e-mail suspeito? Comunique os canais internos na hora.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22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proteger de golpes — </a:t>
            </a:r>
            <a:pPr indent="0" marL="0">
              <a:buNone/>
            </a:pPr>
            <a:r>
              <a:rPr lang="en-US" sz="3000" b="1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vídeo</a:t>
            </a:r>
            <a:endParaRPr lang="en-US" sz="3000" dirty="0"/>
          </a:p>
        </p:txBody>
      </p:sp>
      <p:sp>
        <p:nvSpPr>
          <p:cNvPr id="4" name="Shape 2">
            <a:hlinkClick r:id="rId1" tooltip=""/>
          </p:cNvPr>
          <p:cNvSpPr/>
          <p:nvPr/>
        </p:nvSpPr>
        <p:spPr>
          <a:xfrm>
            <a:off x="640080" y="1481328"/>
            <a:ext cx="6400800" cy="3602736"/>
          </a:xfrm>
          <a:prstGeom prst="roundRect">
            <a:avLst>
              <a:gd name="adj" fmla="val 3299"/>
            </a:avLst>
          </a:prstGeom>
          <a:solidFill>
            <a:srgbClr val="003B1F"/>
          </a:solidFill>
          <a:ln/>
          <a:effectLst>
            <a:outerShdw sx="100000" sy="100000" kx="0" ky="0" algn="bl" rotWithShape="0" blurRad="127000" dist="50800" dir="5400000">
              <a:srgbClr val="003B1F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554480"/>
            <a:ext cx="6254496" cy="3456432"/>
          </a:xfrm>
          <a:prstGeom prst="roundRect">
            <a:avLst>
              <a:gd name="adj" fmla="val 3175"/>
            </a:avLst>
          </a:prstGeom>
          <a:solidFill>
            <a:srgbClr val="00522A"/>
          </a:solidFill>
          <a:ln/>
        </p:spPr>
      </p:sp>
      <p:sp>
        <p:nvSpPr>
          <p:cNvPr id="6" name="Shape 4"/>
          <p:cNvSpPr/>
          <p:nvPr/>
        </p:nvSpPr>
        <p:spPr>
          <a:xfrm>
            <a:off x="3401568" y="2084832"/>
            <a:ext cx="877824" cy="877824"/>
          </a:xfrm>
          <a:prstGeom prst="ellipse">
            <a:avLst/>
          </a:prstGeom>
          <a:solidFill>
            <a:srgbClr val="FDC82F"/>
          </a:solidFill>
          <a:ln/>
          <a:effectLst>
            <a:outerShdw sx="100000" sy="100000" kx="0" ky="0" algn="bl" rotWithShape="0" blurRad="101600" dist="38100" dir="540000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 rot="5400000">
            <a:off x="3675888" y="2304288"/>
            <a:ext cx="402336" cy="438912"/>
          </a:xfrm>
          <a:prstGeom prst="triangle">
            <a:avLst/>
          </a:prstGeom>
          <a:solidFill>
            <a:srgbClr val="003B1F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15468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evitar golpes digitais e proteger seus dados na internet</a:t>
            </a:r>
            <a:endParaRPr lang="en-US" sz="1600" dirty="0"/>
          </a:p>
        </p:txBody>
      </p:sp>
      <p:sp>
        <p:nvSpPr>
          <p:cNvPr id="9" name="Text 7">
            <a:hlinkClick r:id="rId2" tooltip=""/>
          </p:cNvPr>
          <p:cNvSpPr/>
          <p:nvPr/>
        </p:nvSpPr>
        <p:spPr>
          <a:xfrm>
            <a:off x="1234440" y="3931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u="sng" spc="200" kern="0" dirty="0">
                <a:solidFill>
                  <a:srgbClr val="FDC82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CLIQUE PARA ASSISTIR NO YOUTUBE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5175504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evitar golpes digitais e proteger seus dados na internet” — reportagem NDTV (portal ND Mais). Link: </a:t>
            </a:r>
            <a:pPr indent="0" marL="0">
              <a:buNone/>
            </a:pPr>
            <a:r>
              <a:rPr lang="en-US" sz="950" b="1" u="sng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youtube.com/watch?v=z2ozsB3_Iww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0" y="1481328"/>
            <a:ext cx="4233672" cy="3017520"/>
          </a:xfrm>
          <a:prstGeom prst="roundRect">
            <a:avLst>
              <a:gd name="adj" fmla="val 3939"/>
            </a:avLst>
          </a:prstGeom>
          <a:solidFill>
            <a:srgbClr val="008542"/>
          </a:solidFill>
          <a:ln/>
          <a:effectLst>
            <a:outerShdw sx="100000" sy="100000" kx="0" ky="0" algn="bl" rotWithShape="0" blurRad="114300" dist="38100" dir="5400000">
              <a:srgbClr val="003B1F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5895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</a:t>
            </a:r>
            <a:pPr indent="0" marL="0">
              <a:buNone/>
            </a:pPr>
            <a:r>
              <a:rPr lang="en-US" sz="1700" b="1" dirty="0">
                <a:solidFill>
                  <a:srgbClr val="FDC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589520" y="2121408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Segurança é hábito, não produto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Desconfiar, verificar e atualizar bloqueia a maioria dos ataques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Quem desacelera não cai: o golpe depende da sua pressa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Reportar rápido protege você — e as próximas vítimas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0" y="411480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DC8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Obrigado! Dúvidas?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0" y="4681728"/>
            <a:ext cx="4233672" cy="1737360"/>
          </a:xfrm>
          <a:prstGeom prst="roundRect">
            <a:avLst>
              <a:gd name="adj" fmla="val 5263"/>
            </a:avLst>
          </a:prstGeom>
          <a:solidFill>
            <a:srgbClr val="F5F8F6"/>
          </a:solidFill>
          <a:ln w="12700">
            <a:solidFill>
              <a:srgbClr val="E2EA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71232" y="48463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005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SABER MAIS — FONTES OFICIAIS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571232" y="51206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b="1" u="sng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cartilha.cert.br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Cartilha de Segurança para Internet (CERT.br)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u="sng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antifraudes.febraban.org.br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guia antifraudes da Febraban</a:t>
            </a:r>
            <a:endParaRPr lang="en-US" sz="9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950" b="1" u="sng" dirty="0">
                <a:solidFill>
                  <a:srgbClr val="00854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cidadaonarede.nic.br</a:t>
            </a:r>
            <a:pPr indent="0" marL="0">
              <a:lnSpc>
                <a:spcPct val="110000"/>
              </a:lnSpc>
              <a:spcAft>
                <a:spcPts val="500"/>
              </a:spcAft>
              <a:buNone/>
            </a:pPr>
            <a:r>
              <a:rPr lang="en-US" sz="950" dirty="0">
                <a:solidFill>
                  <a:srgbClr val="4C5F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vídeos curtos de boas práticas (NIC.br)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2026-08-09T23:31:43Z</dcterms:created>
  <dcterms:modified xsi:type="dcterms:W3CDTF">2026-08-09T23:31:43Z</dcterms:modified>
</cp:coreProperties>
</file>